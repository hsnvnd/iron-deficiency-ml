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79" r:id="rId4"/>
    <p:sldId id="296" r:id="rId5"/>
    <p:sldId id="297" r:id="rId6"/>
    <p:sldId id="295" r:id="rId7"/>
    <p:sldId id="289" r:id="rId8"/>
    <p:sldId id="298" r:id="rId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5pPr>
    <a:lvl6pPr marL="22860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6pPr>
    <a:lvl7pPr marL="27432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7pPr>
    <a:lvl8pPr marL="32004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8pPr>
    <a:lvl9pPr marL="36576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BFFD5"/>
    <a:srgbClr val="FACAD2"/>
    <a:srgbClr val="5D8223"/>
    <a:srgbClr val="D1B3E7"/>
    <a:srgbClr val="397B0D"/>
    <a:srgbClr val="990D16"/>
    <a:srgbClr val="FFFF71"/>
    <a:srgbClr val="DAC2EC"/>
    <a:srgbClr val="F6A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1" autoAdjust="0"/>
    <p:restoredTop sz="94343" autoAdjust="0"/>
  </p:normalViewPr>
  <p:slideViewPr>
    <p:cSldViewPr>
      <p:cViewPr varScale="1">
        <p:scale>
          <a:sx n="73" d="100"/>
          <a:sy n="73" d="100"/>
        </p:scale>
        <p:origin x="1464" y="72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171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138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fld id="{934E5B20-0DF6-45DE-8D68-529744E10A6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863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3688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38422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17031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54423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45646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765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5229225"/>
            <a:ext cx="7343775" cy="936625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noProof="0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00113" y="1196975"/>
            <a:ext cx="3959225" cy="5762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>
                <a:solidFill>
                  <a:srgbClr val="86BF06"/>
                </a:solidFill>
                <a:latin typeface="Futura LT Book" pitchFamily="2" charset="0"/>
              </a:defRPr>
            </a:lvl1pPr>
          </a:lstStyle>
          <a:p>
            <a:pPr lvl="0"/>
            <a:r>
              <a:rPr lang="ru-RU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5F9D7-C229-410F-8367-2548BCE87028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449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5D6E-72DE-41B0-92F9-8D4198D816F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78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700213"/>
            <a:ext cx="402748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4027488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095625-21CC-4170-9596-B152E693AD4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98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3A2AA-BF6B-40D1-9F61-1B0E7ACF73E7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3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16386E-96C5-4FC2-80E5-4D0FDDE0874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00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7B57E-2949-441C-A1CE-1DDE5E496D22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45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00A1E-3B13-4EBC-BD68-E86E9DEB7F4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21D23-CCB7-4715-BF5A-E7E71B366D8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48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C67D3-6A5B-4A3F-BB91-4B966C54B5B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87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260350"/>
            <a:ext cx="2051050" cy="6048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60350"/>
            <a:ext cx="6003925" cy="6048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A116F-7917-423B-A109-25C191BF874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990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E9100-F421-47BF-8F7C-5BE3FC36189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343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B8F9E8-069D-482A-99F8-983C1284A70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93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59FD14-506C-4DEB-BE7C-55BBE343BDC5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39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8175" y="1628775"/>
            <a:ext cx="33131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3688" y="1628775"/>
            <a:ext cx="33131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B32CC-FA3D-4C45-B252-8688A9EA43D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635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F25B53-11BB-4683-8B94-D214EBD7C8E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419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D810B0-1F38-4810-922B-799F3D05D8D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11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942A9-019B-48E4-A5A6-CA57BA3B2D3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728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C5819-F7CE-4516-81F4-B0B390D8595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942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82CBA-BB10-4636-BF66-6257B3516F2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176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9994C-A001-4066-894D-20DC7FB7D34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561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2938" y="274638"/>
            <a:ext cx="1693862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8175" y="274638"/>
            <a:ext cx="4932363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EACB5-E598-40F1-AA57-766668E9E96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61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4535487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700213"/>
            <a:ext cx="820737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bg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bg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bg1"/>
                </a:solidFill>
                <a:latin typeface="Futura LT" pitchFamily="2" charset="0"/>
              </a:defRPr>
            </a:lvl1pPr>
          </a:lstStyle>
          <a:p>
            <a:fld id="{D75DD382-631D-4E9B-8207-E2054F509E8B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08175" y="274638"/>
            <a:ext cx="67675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8175" y="1628775"/>
            <a:ext cx="67786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Futura LT" pitchFamily="2" charset="0"/>
              </a:defRPr>
            </a:lvl1pPr>
          </a:lstStyle>
          <a:p>
            <a:fld id="{EF1CDDE1-01BB-4045-B84C-1A0D2E877B23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520" y="5085184"/>
            <a:ext cx="8784976" cy="1585019"/>
          </a:xfrm>
        </p:spPr>
        <p:txBody>
          <a:bodyPr/>
          <a:lstStyle/>
          <a:p>
            <a:r>
              <a:rPr lang="en-US" sz="2800" b="1" dirty="0" smtClean="0"/>
              <a:t>-Fe Indexes, Only Young Leaves</a:t>
            </a:r>
            <a:br>
              <a:rPr lang="en-US" sz="2800" b="1" dirty="0" smtClean="0"/>
            </a:br>
            <a:r>
              <a:rPr lang="en-US" sz="2000" dirty="0" smtClean="0"/>
              <a:t>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the accuracy of 4 machine learning methods using </a:t>
            </a:r>
            <a:r>
              <a:rPr lang="en-US" sz="20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2" name="Cloud 1"/>
          <p:cNvSpPr/>
          <p:nvPr/>
        </p:nvSpPr>
        <p:spPr bwMode="auto">
          <a:xfrm>
            <a:off x="2776862" y="947716"/>
            <a:ext cx="5251522" cy="2445446"/>
          </a:xfrm>
          <a:prstGeom prst="cloud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Futura LT Book" pitchFamily="2" charset="0"/>
              <a:ea typeface="굴림" pitchFamily="34" charset="-127"/>
            </a:endParaRPr>
          </a:p>
        </p:txBody>
      </p:sp>
      <p:sp>
        <p:nvSpPr>
          <p:cNvPr id="8" name="Cloud 7"/>
          <p:cNvSpPr/>
          <p:nvPr/>
        </p:nvSpPr>
        <p:spPr bwMode="auto">
          <a:xfrm>
            <a:off x="6043102" y="2655651"/>
            <a:ext cx="936104" cy="737511"/>
          </a:xfrm>
          <a:prstGeom prst="cloud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Futura LT Book" pitchFamily="2" charset="0"/>
              <a:ea typeface="굴림" pitchFamily="34" charset="-127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467544" y="1099216"/>
            <a:ext cx="3384376" cy="1954163"/>
          </a:xfrm>
          <a:prstGeom prst="cloud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Futura LT Book" pitchFamily="2" charset="0"/>
              <a:ea typeface="굴림" pitchFamily="34" charset="-127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5082">
            <a:off x="2379791" y="256299"/>
            <a:ext cx="4068147" cy="406814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76862" y="476674"/>
            <a:ext cx="3842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changed!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2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27384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4848" y="1124744"/>
            <a:ext cx="7822784" cy="769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“Dati_HIS_Serra_Cs_Hv_Sl_Zm_no_Fe.txt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Anna1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“Exp_I_Anna_Fe_Tomato.txt.txt”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strike="sngStrike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800" strike="sngStrike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Anna2</a:t>
            </a:r>
            <a:r>
              <a:rPr lang="en-US" sz="1800" strike="sngStrike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“Exp_II_Anna_Fe_Tomato.txt</a:t>
            </a:r>
            <a:r>
              <a:rPr lang="en-US" sz="1900" strike="sngStrike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Marco1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“Exp_Marco_tesista_Fe_Lupino.txt”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Marco2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“Marco_lupin_Polypen_last_day_24_0_2025.txt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900" b="0" kern="0" dirty="0" smtClean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Anna3_Barley_Polypen_16May 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(ROSA NEW</a:t>
            </a:r>
            <a:r>
              <a:rPr lang="en-US" sz="1900" b="0" kern="0" dirty="0" smtClean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sheet “</a:t>
            </a:r>
            <a:r>
              <a:rPr lang="en-US" sz="1900" b="0" kern="0" dirty="0" err="1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MAY new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of the file “reflectance data (ROSA) new.xlsx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Anna3_specim_16_May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sheet “</a:t>
            </a:r>
            <a:r>
              <a:rPr lang="en-US" sz="1900" b="0" kern="0" dirty="0" err="1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May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of the file “reflectance data (ROSA) new.xlsx”</a:t>
            </a:r>
          </a:p>
          <a:p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1619672" y="404469"/>
            <a:ext cx="6354706" cy="57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3" tIns="45722" rIns="91443" bIns="4572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  <a:r>
              <a:rPr lang="en-US" sz="280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Nicknames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Real Names</a:t>
            </a:r>
            <a:endParaRPr lang="en-US" sz="2800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614" y="2276872"/>
            <a:ext cx="1389842" cy="85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6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3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0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74413" y="1124744"/>
            <a:ext cx="760796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used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(developed by Michele) and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 sets for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(15 and 6 features) and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(13 and 5 features),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used the aforementioned features in SVM, LDA, Random Forest, and Logistic Regression to see the accuracy.</a:t>
            </a:r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test set was once the whole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Anna1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Anna2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Marco1 </a:t>
            </a:r>
            <a:r>
              <a:rPr lang="en-US" sz="1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+ 35_Remaining_samples_of_Michele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Anna3</a:t>
            </a:r>
            <a:r>
              <a:rPr 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_16_May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and another time, this test set separately based on plant type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4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6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8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0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2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1619672" y="404469"/>
            <a:ext cx="6354706" cy="57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3" tIns="45722" rIns="91443" bIns="4572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Overview</a:t>
            </a:r>
            <a:endParaRPr lang="en-US" sz="2800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12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4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0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291322"/>
              </p:ext>
            </p:extLst>
          </p:nvPr>
        </p:nvGraphicFramePr>
        <p:xfrm>
          <a:off x="1691680" y="2506554"/>
          <a:ext cx="5619764" cy="1646316"/>
        </p:xfrm>
        <a:graphic>
          <a:graphicData uri="http://schemas.openxmlformats.org/drawingml/2006/table">
            <a:tbl>
              <a:tblPr firstRow="1" firstCol="1" bandRow="1"/>
              <a:tblGrid>
                <a:gridCol w="1563688">
                  <a:extLst>
                    <a:ext uri="{9D8B030D-6E8A-4147-A177-3AD203B41FA5}">
                      <a16:colId xmlns:a16="http://schemas.microsoft.com/office/drawing/2014/main" val="994577801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383637665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2513368419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3113401294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1141989788"/>
                    </a:ext>
                  </a:extLst>
                </a:gridCol>
              </a:tblGrid>
              <a:tr h="6433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 features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8595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US" sz="15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0.63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0.61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70941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299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133025" y="1037574"/>
            <a:ext cx="83033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testing per the whole test set of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Anna1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Anna2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Marco1 </a:t>
            </a:r>
            <a:r>
              <a:rPr lang="en-US" sz="1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+ 35_Remaining_samples_of_Michele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Anna3</a:t>
            </a:r>
            <a:r>
              <a:rPr 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_16_May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" name="AutoShape 4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6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8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0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2" descr="Cute Tomato Crying Emoji Icon - Free Download Food &amp; Drink Emoji Icons |  IconScout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76480"/>
            <a:ext cx="1388309" cy="85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2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5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0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35430" y="2492896"/>
            <a:ext cx="184731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700" dirty="0"/>
          </a:p>
        </p:txBody>
      </p:sp>
      <p:sp>
        <p:nvSpPr>
          <p:cNvPr id="14" name="Rectangle 13"/>
          <p:cNvSpPr/>
          <p:nvPr/>
        </p:nvSpPr>
        <p:spPr>
          <a:xfrm>
            <a:off x="395536" y="309248"/>
            <a:ext cx="85801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testing per each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“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Anna1 + </a:t>
            </a:r>
            <a:r>
              <a:rPr lang="en-US" sz="1800" strike="sngStrike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Anna2 </a:t>
            </a:r>
            <a:r>
              <a:rPr 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Marco1 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+ 35_Remaining_samples_of_Michele + Anna3_</a:t>
            </a:r>
            <a:r>
              <a:rPr lang="en-US" sz="1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_16_May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separately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308011"/>
              </p:ext>
            </p:extLst>
          </p:nvPr>
        </p:nvGraphicFramePr>
        <p:xfrm>
          <a:off x="1549994" y="1297495"/>
          <a:ext cx="6284144" cy="3611590"/>
        </p:xfrm>
        <a:graphic>
          <a:graphicData uri="http://schemas.openxmlformats.org/drawingml/2006/table">
            <a:tbl>
              <a:tblPr firstRow="1" firstCol="1" bandRow="1"/>
              <a:tblGrid>
                <a:gridCol w="1365822">
                  <a:extLst>
                    <a:ext uri="{9D8B030D-6E8A-4147-A177-3AD203B41FA5}">
                      <a16:colId xmlns:a16="http://schemas.microsoft.com/office/drawing/2014/main" val="3767750980"/>
                    </a:ext>
                  </a:extLst>
                </a:gridCol>
                <a:gridCol w="1196992">
                  <a:extLst>
                    <a:ext uri="{9D8B030D-6E8A-4147-A177-3AD203B41FA5}">
                      <a16:colId xmlns:a16="http://schemas.microsoft.com/office/drawing/2014/main" val="3540054270"/>
                    </a:ext>
                  </a:extLst>
                </a:gridCol>
                <a:gridCol w="980940">
                  <a:extLst>
                    <a:ext uri="{9D8B030D-6E8A-4147-A177-3AD203B41FA5}">
                      <a16:colId xmlns:a16="http://schemas.microsoft.com/office/drawing/2014/main" val="2034918092"/>
                    </a:ext>
                  </a:extLst>
                </a:gridCol>
                <a:gridCol w="980940">
                  <a:extLst>
                    <a:ext uri="{9D8B030D-6E8A-4147-A177-3AD203B41FA5}">
                      <a16:colId xmlns:a16="http://schemas.microsoft.com/office/drawing/2014/main" val="4249753927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307905108"/>
                    </a:ext>
                  </a:extLst>
                </a:gridCol>
                <a:gridCol w="980940">
                  <a:extLst>
                    <a:ext uri="{9D8B030D-6E8A-4147-A177-3AD203B41FA5}">
                      <a16:colId xmlns:a16="http://schemas.microsoft.com/office/drawing/2014/main" val="879166847"/>
                    </a:ext>
                  </a:extLst>
                </a:gridCol>
              </a:tblGrid>
              <a:tr h="4413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Plant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Accuracy, </a:t>
                      </a:r>
                      <a:r>
                        <a:rPr lang="en-US" sz="1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SHAP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Accuracy, </a:t>
                      </a:r>
                      <a:r>
                        <a:rPr lang="en-US" sz="1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SHAP</a:t>
                      </a:r>
                      <a:endParaRPr lang="en-US" sz="12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en-US" sz="12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</a:t>
                      </a:r>
                      <a:endParaRPr lang="en-US" sz="1200" b="1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CARS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269272"/>
                  </a:ext>
                </a:extLst>
              </a:tr>
              <a:tr h="21515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Barely (Anna3 </a:t>
                      </a:r>
                      <a:r>
                        <a:rPr lang="en-US" sz="1200" b="1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Specim+Michele</a:t>
                      </a: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0.84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825155"/>
                  </a:ext>
                </a:extLst>
              </a:tr>
              <a:tr h="2151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0.90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0.89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0.94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0.97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204889"/>
                  </a:ext>
                </a:extLst>
              </a:tr>
              <a:tr h="36389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Lupine (Marco1)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0126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094877"/>
                  </a:ext>
                </a:extLst>
              </a:tr>
              <a:tr h="21515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Tomato (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Anna1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200" b="1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Anna2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Michele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99946"/>
                  </a:ext>
                </a:extLst>
              </a:tr>
              <a:tr h="2262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US" sz="120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US" sz="120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US" sz="120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0.96</a:t>
                      </a:r>
                      <a:endParaRPr lang="en-US" sz="120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US" sz="120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532124"/>
                  </a:ext>
                </a:extLst>
              </a:tr>
              <a:tr h="34265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Cucumber (Michele) </a:t>
                      </a:r>
                      <a:endParaRPr lang="en-US" sz="12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57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en-US" sz="12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76272"/>
                  </a:ext>
                </a:extLst>
              </a:tr>
              <a:tr h="21515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Maize (Michele)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665098"/>
                  </a:ext>
                </a:extLst>
              </a:tr>
              <a:tr h="2151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en-US" sz="1200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0.55</a:t>
                      </a:r>
                      <a:r>
                        <a:rPr lang="en-US" sz="1200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strike="noStrike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0.66</a:t>
                      </a:r>
                      <a:endParaRPr lang="en-US" sz="1200" strike="noStrike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92625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38588" y="5165229"/>
            <a:ext cx="785907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Phase2’s </a:t>
            </a: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3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algn="just"/>
            <a:r>
              <a:rPr lang="en-US" sz="13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[‘X723.53‘, ‘X720.54', ‘X726.53', ‘X501.72', ‘X504.64', ‘X929.68', ‘X507.56', ‘X498.80</a:t>
            </a:r>
            <a:r>
              <a:rPr lang="en-US" sz="13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‘</a:t>
            </a:r>
            <a:r>
              <a:rPr lang="en-US" sz="13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X449.35</a:t>
            </a:r>
            <a:r>
              <a:rPr lang="en-US" sz="13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‘, 'X717.54</a:t>
            </a:r>
            <a:r>
              <a:rPr lang="en-US" sz="13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','X510.48', 'X495.89', 'X714.55', 'X941.95', 'X765.58']</a:t>
            </a:r>
          </a:p>
          <a:p>
            <a:pPr algn="just"/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algn="just"/>
            <a:r>
              <a:rPr lang="en-US" sz="13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[‘X702.58', ‘X699.60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‘X714.55', ‘X705.57', ‘X525.1', ‘X708.57',‘X696.61', ‘X711.56', ‘X569.12‘, ‘X717.54’, ‘X542.68’, ‘X519.25’, ‘X563.24’,’ X557.36’, ‘X723.53’]</a:t>
            </a:r>
          </a:p>
          <a:p>
            <a:pPr algn="just"/>
            <a:endParaRPr lang="en-US" sz="13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77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6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428838" y="8844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5721" y="1679903"/>
            <a:ext cx="28934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Phase2’s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600" dirty="0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5652120" y="1787474"/>
            <a:ext cx="0" cy="3600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/>
          <p:cNvSpPr/>
          <p:nvPr/>
        </p:nvSpPr>
        <p:spPr>
          <a:xfrm>
            <a:off x="1085721" y="1939327"/>
            <a:ext cx="84027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[‘X723.53‘, ‘X720.54', ‘X726.53', ‘X501.72', ‘X504.64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strike="sngStrik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‘X929.68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‘X507.56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‘X498.80', ‘X449.35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[‘X702.58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‘X699.60', ‘X714.55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‘X705.57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‘X525.1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‘X708.57',‘X696.61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‘X711.56', ‘X569.12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88" y="1556792"/>
            <a:ext cx="22140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exist in </a:t>
            </a:r>
            <a:r>
              <a:rPr lang="en-US" sz="13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endParaRPr lang="en-US" sz="13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19374" y="273423"/>
            <a:ext cx="6836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Phase3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 Phase 2’s features on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Plant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fa-I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“Marco2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_16May </a:t>
            </a:r>
            <a:r>
              <a:rPr lang="en-US" sz="1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ROSA NEW</a:t>
            </a:r>
            <a:r>
              <a:rPr lang="en-US" sz="1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separately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37491"/>
              </p:ext>
            </p:extLst>
          </p:nvPr>
        </p:nvGraphicFramePr>
        <p:xfrm>
          <a:off x="1927551" y="3689516"/>
          <a:ext cx="5619764" cy="1646316"/>
        </p:xfrm>
        <a:graphic>
          <a:graphicData uri="http://schemas.openxmlformats.org/drawingml/2006/table">
            <a:tbl>
              <a:tblPr firstRow="1" firstCol="1" bandRow="1"/>
              <a:tblGrid>
                <a:gridCol w="1563688">
                  <a:extLst>
                    <a:ext uri="{9D8B030D-6E8A-4147-A177-3AD203B41FA5}">
                      <a16:colId xmlns:a16="http://schemas.microsoft.com/office/drawing/2014/main" val="994577801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383637665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2513368419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3113401294"/>
                    </a:ext>
                  </a:extLst>
                </a:gridCol>
                <a:gridCol w="1014019">
                  <a:extLst>
                    <a:ext uri="{9D8B030D-6E8A-4147-A177-3AD203B41FA5}">
                      <a16:colId xmlns:a16="http://schemas.microsoft.com/office/drawing/2014/main" val="1141989788"/>
                    </a:ext>
                  </a:extLst>
                </a:gridCol>
              </a:tblGrid>
              <a:tr h="6433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 features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8595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US" sz="15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70941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29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56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7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428838" y="8844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5721" y="1679903"/>
            <a:ext cx="28934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Phase2’s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600" dirty="0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5652120" y="1787474"/>
            <a:ext cx="0" cy="3600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/>
          <p:cNvSpPr/>
          <p:nvPr/>
        </p:nvSpPr>
        <p:spPr>
          <a:xfrm>
            <a:off x="1085721" y="1939327"/>
            <a:ext cx="84027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[‘X723.53‘, ‘X720.54', ‘X726.53', ‘X501.72', ‘X504.64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strike="sngStrik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‘X929.68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‘X507.56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‘X498.80', ‘X449.35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[‘X702.58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‘X699.60', ‘X714.55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‘X705.57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‘X525.1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‘X708.57',‘X696.61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4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‘X711.56', ‘X569.12</a:t>
            </a: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88" y="1556792"/>
            <a:ext cx="22140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exist in </a:t>
            </a:r>
            <a:r>
              <a:rPr lang="en-US" sz="1300" b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endParaRPr lang="en-US" sz="13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19374" y="273423"/>
            <a:ext cx="68361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Phase3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 Phase 2’s features on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Plant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fa-I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“Marco2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_16May </a:t>
            </a:r>
            <a:r>
              <a:rPr lang="en-US" sz="1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ROSA NEW</a:t>
            </a:r>
            <a:r>
              <a:rPr lang="en-US" sz="1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separately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57935"/>
              </p:ext>
            </p:extLst>
          </p:nvPr>
        </p:nvGraphicFramePr>
        <p:xfrm>
          <a:off x="1758384" y="3428649"/>
          <a:ext cx="5688628" cy="2152400"/>
        </p:xfrm>
        <a:graphic>
          <a:graphicData uri="http://schemas.openxmlformats.org/drawingml/2006/table">
            <a:tbl>
              <a:tblPr firstRow="1" firstCol="1" bandRow="1"/>
              <a:tblGrid>
                <a:gridCol w="985178">
                  <a:extLst>
                    <a:ext uri="{9D8B030D-6E8A-4147-A177-3AD203B41FA5}">
                      <a16:colId xmlns:a16="http://schemas.microsoft.com/office/drawing/2014/main" val="690680305"/>
                    </a:ext>
                  </a:extLst>
                </a:gridCol>
                <a:gridCol w="886080">
                  <a:extLst>
                    <a:ext uri="{9D8B030D-6E8A-4147-A177-3AD203B41FA5}">
                      <a16:colId xmlns:a16="http://schemas.microsoft.com/office/drawing/2014/main" val="2736967510"/>
                    </a:ext>
                  </a:extLst>
                </a:gridCol>
                <a:gridCol w="973055">
                  <a:extLst>
                    <a:ext uri="{9D8B030D-6E8A-4147-A177-3AD203B41FA5}">
                      <a16:colId xmlns:a16="http://schemas.microsoft.com/office/drawing/2014/main" val="3460964499"/>
                    </a:ext>
                  </a:extLst>
                </a:gridCol>
                <a:gridCol w="973055">
                  <a:extLst>
                    <a:ext uri="{9D8B030D-6E8A-4147-A177-3AD203B41FA5}">
                      <a16:colId xmlns:a16="http://schemas.microsoft.com/office/drawing/2014/main" val="1926315802"/>
                    </a:ext>
                  </a:extLst>
                </a:gridCol>
                <a:gridCol w="973055">
                  <a:extLst>
                    <a:ext uri="{9D8B030D-6E8A-4147-A177-3AD203B41FA5}">
                      <a16:colId xmlns:a16="http://schemas.microsoft.com/office/drawing/2014/main" val="2990014646"/>
                    </a:ext>
                  </a:extLst>
                </a:gridCol>
                <a:gridCol w="898205">
                  <a:extLst>
                    <a:ext uri="{9D8B030D-6E8A-4147-A177-3AD203B41FA5}">
                      <a16:colId xmlns:a16="http://schemas.microsoft.com/office/drawing/2014/main" val="2798683739"/>
                    </a:ext>
                  </a:extLst>
                </a:gridCol>
              </a:tblGrid>
              <a:tr h="5867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Plant (Test set)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SHAP 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SHAP 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8311"/>
                  </a:ext>
                </a:extLst>
              </a:tr>
              <a:tr h="29337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Barely </a:t>
                      </a: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(Anna3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063150"/>
                  </a:ext>
                </a:extLst>
              </a:tr>
              <a:tr h="2933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553943"/>
                  </a:ext>
                </a:extLst>
              </a:tr>
              <a:tr h="29337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Lupine </a:t>
                      </a:r>
                      <a:r>
                        <a:rPr lang="en-US" sz="12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(Marco2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184663"/>
                  </a:ext>
                </a:extLst>
              </a:tr>
              <a:tr h="2933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574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79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template">
      <a:majorFont>
        <a:latin typeface="Futura LT Book"/>
        <a:ea typeface="굴림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Futura LT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22073</TotalTime>
  <Words>747</Words>
  <Application>Microsoft Office PowerPoint</Application>
  <PresentationFormat>On-screen Show (4:3)</PresentationFormat>
  <Paragraphs>181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Futura LT</vt:lpstr>
      <vt:lpstr>Futura LT Book</vt:lpstr>
      <vt:lpstr>굴림</vt:lpstr>
      <vt:lpstr>Times New Roman</vt:lpstr>
      <vt:lpstr>template</vt:lpstr>
      <vt:lpstr>Custom Design</vt:lpstr>
      <vt:lpstr>-Fe Indexes, Only Young Leaves (We calculate the accuracy of 4 machine learning methods using SHAP and CARS features)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Fa Hass</cp:lastModifiedBy>
  <cp:revision>1172</cp:revision>
  <dcterms:created xsi:type="dcterms:W3CDTF">2006-06-29T12:15:01Z</dcterms:created>
  <dcterms:modified xsi:type="dcterms:W3CDTF">2025-07-19T16:58:04Z</dcterms:modified>
</cp:coreProperties>
</file>